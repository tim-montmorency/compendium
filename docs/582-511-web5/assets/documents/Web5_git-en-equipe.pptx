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Aujourd'hui, on prend le temps de bien comprendre Git en équipe : on l'avait vu très vite pour la bêta du portfolio. Branches, pull requests, conflits, et une façon commune de nommer vos commits.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 portfolio, vous étiez seuls sur main. À deux, si vous poussez tous les deux sur main, vous vous bloquez mutuellement, et une erreur de l'un casse le projet des deux.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main, c'est la version de l'équipe, celle qui fonctionne. Chacun a sa branche à son prénom. Quand une partie est prête, on la fusionne dans main par une pull request. Et l'historique montre qui a fait quoi : ça sert à votre évaluation individuelle.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Seule exception : la structure commune, créée ensemble au début. Ensuite, plus personne ne code sur main. En bas à gauche de VS Code, le nom de la branche : ce doit être la vôtre.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squelette dans data.json est important : si chacun ajoute ses chapitres à la fin du fichier en même temps, c'est le conflit assuré. Avec le squelette, chacun remplit des lignes différentes.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Vérifiez toujours la direction : base main, compare votre branche. Petites PR, souvent : moins de risque de conflit.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C'est l'étape que tout le monde oublie. Après chaque PR fusionnée, l'autre récupère main dans sa branche. Plus vous le faites souvent, plus les conflits sont petits.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fusionne seul tout ce qu'il peut. Il s'arrête seulement quand les deux branches ont modifié les mêmes lignes du même fichier.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HEAD, c'est votre branche active. Entre les signes égal et les chevrons fermants, la version qui arrive. Il faut choisir, puis effacer tous les marqueurs.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Testez avec Live Server avant de pousser : un conflit réglé à la main peut casser la page, par exemple une virgule de trop dans le 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plupart des conflits viennent des fichiers communs. Séparez ce que vous pouvez séparer.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Comme au portfolio : en français, à l'impératif, précis. La zone au début permet de retrouver le travail de chacun dans l'historique. Corrige dièse 12 : on y reviendra avec les issues GitHub au contrôle de la qualité croisé.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page Git en équipe et l'exercice sont dans le compendium. Je circule.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COURS 9.1 · LE RÉCIT DÉFILANT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 </a:t>
            </a:r>
            <a:pPr indent="0" marL="0">
              <a:buNone/>
            </a:pPr>
            <a:r>
              <a:rPr lang="en-US" sz="7200" b="1" dirty="0">
                <a:solidFill>
                  <a:srgbClr val="FF2B4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 équipe</a:t>
            </a:r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38404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Coder à deux, sans se marcher dessus.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7373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 PROBLÈME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10698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deux sur </a:t>
            </a:r>
            <a:pPr indent="0" marL="0">
              <a:buNone/>
            </a:pPr>
            <a:r>
              <a:rPr lang="en-US" sz="4800" b="1" dirty="0">
                <a:solidFill>
                  <a:srgbClr val="FF2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chaque push de l'un peut bloquer l'autre.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4114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Une branche par personne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9875520" cy="914"/>
          </a:xfrm>
          <a:prstGeom prst="line">
            <a:avLst/>
          </a:prstGeom>
          <a:noFill/>
          <a:ln w="508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828800" y="2103120"/>
            <a:ext cx="731520" cy="1280160"/>
          </a:xfrm>
          <a:prstGeom prst="line">
            <a:avLst/>
          </a:prstGeom>
          <a:noFill/>
          <a:ln w="38100">
            <a:solidFill>
              <a:srgbClr val="FF2B4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560320" y="3383280"/>
            <a:ext cx="2560320" cy="914"/>
          </a:xfrm>
          <a:prstGeom prst="line">
            <a:avLst/>
          </a:prstGeom>
          <a:noFill/>
          <a:ln w="38100">
            <a:solidFill>
              <a:srgbClr val="FF2B4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 flipV="1">
            <a:off x="5120640" y="2103120"/>
            <a:ext cx="731520" cy="1280160"/>
          </a:xfrm>
          <a:prstGeom prst="line">
            <a:avLst/>
          </a:prstGeom>
          <a:noFill/>
          <a:ln w="38100">
            <a:solidFill>
              <a:srgbClr val="FF2B4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194560" y="2103120"/>
            <a:ext cx="731520" cy="2377440"/>
          </a:xfrm>
          <a:prstGeom prst="line">
            <a:avLst/>
          </a:prstGeom>
          <a:noFill/>
          <a:ln w="38100">
            <a:solidFill>
              <a:srgbClr val="A8A8A8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926080" y="4480560"/>
            <a:ext cx="5669280" cy="914"/>
          </a:xfrm>
          <a:prstGeom prst="line">
            <a:avLst/>
          </a:prstGeom>
          <a:noFill/>
          <a:ln w="38100">
            <a:solidFill>
              <a:srgbClr val="A8A8A8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V="1">
            <a:off x="8595360" y="2103120"/>
            <a:ext cx="731520" cy="2377440"/>
          </a:xfrm>
          <a:prstGeom prst="line">
            <a:avLst/>
          </a:prstGeom>
          <a:noFill/>
          <a:ln w="38100">
            <a:solidFill>
              <a:srgbClr val="A8A8A8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78408" y="19842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709928" y="19842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075688" y="19842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733288" y="19842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208008" y="19842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0853928" y="19842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172968" y="3264408"/>
            <a:ext cx="237744" cy="237744"/>
          </a:xfrm>
          <a:prstGeom prst="ellipse">
            <a:avLst/>
          </a:prstGeom>
          <a:solidFill>
            <a:srgbClr val="FF2B47"/>
          </a:solidFill>
          <a:ln w="12700">
            <a:solidFill>
              <a:srgbClr val="FF2B4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904488" y="3264408"/>
            <a:ext cx="237744" cy="237744"/>
          </a:xfrm>
          <a:prstGeom prst="ellipse">
            <a:avLst/>
          </a:prstGeom>
          <a:solidFill>
            <a:srgbClr val="FF2B47"/>
          </a:solidFill>
          <a:ln w="12700">
            <a:solidFill>
              <a:srgbClr val="FF2B47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636008" y="3264408"/>
            <a:ext cx="237744" cy="237744"/>
          </a:xfrm>
          <a:prstGeom prst="ellipse">
            <a:avLst/>
          </a:prstGeom>
          <a:solidFill>
            <a:srgbClr val="FF2B47"/>
          </a:solidFill>
          <a:ln w="12700">
            <a:solidFill>
              <a:srgbClr val="FF2B47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3538728" y="4361688"/>
            <a:ext cx="237744" cy="237744"/>
          </a:xfrm>
          <a:prstGeom prst="ellipse">
            <a:avLst/>
          </a:prstGeom>
          <a:solidFill>
            <a:srgbClr val="A8A8A8"/>
          </a:solidFill>
          <a:ln w="12700">
            <a:solidFill>
              <a:srgbClr val="A8A8A8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910328" y="4361688"/>
            <a:ext cx="237744" cy="237744"/>
          </a:xfrm>
          <a:prstGeom prst="ellipse">
            <a:avLst/>
          </a:prstGeom>
          <a:solidFill>
            <a:srgbClr val="A8A8A8"/>
          </a:solidFill>
          <a:ln w="12700">
            <a:solidFill>
              <a:srgbClr val="A8A8A8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281928" y="4361688"/>
            <a:ext cx="237744" cy="237744"/>
          </a:xfrm>
          <a:prstGeom prst="ellipse">
            <a:avLst/>
          </a:prstGeom>
          <a:solidFill>
            <a:srgbClr val="A8A8A8"/>
          </a:solidFill>
          <a:ln w="12700">
            <a:solidFill>
              <a:srgbClr val="A8A8A8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7653528" y="4361688"/>
            <a:ext cx="237744" cy="237744"/>
          </a:xfrm>
          <a:prstGeom prst="ellipse">
            <a:avLst/>
          </a:prstGeom>
          <a:solidFill>
            <a:srgbClr val="A8A8A8"/>
          </a:solidFill>
          <a:ln w="12700">
            <a:solidFill>
              <a:srgbClr val="A8A8A8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274320" y="18745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74320" y="31546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74320" y="42519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A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leo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394960" y="15087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2B4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 #1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869680" y="15087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 #2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31520" y="53949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Chacun avance sur sa branche. On fusionne dans main quand une partie est prête.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7373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RÈGLE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10698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ne code jamais sur </a:t>
            </a:r>
            <a:pPr indent="0" marL="0">
              <a:buNone/>
            </a:pPr>
            <a:r>
              <a:rPr lang="en-US" sz="4800" b="1" dirty="0">
                <a:solidFill>
                  <a:srgbClr val="FF2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 réflexe : un coup d'œil à la branche active avant de coder.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4114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 flux, en 5 étapes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02920" cy="502920"/>
          </a:xfrm>
          <a:prstGeom prst="ellipse">
            <a:avLst/>
          </a:prstGeom>
          <a:solidFill>
            <a:srgbClr val="FF2B47"/>
          </a:solidFill>
          <a:ln w="12700">
            <a:solidFill>
              <a:srgbClr val="FF2B4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4173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structure commune, ensemble, sur main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63040" y="179222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fichier CSS et JS par chapitre, et le squelette de data.json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377440"/>
            <a:ext cx="502920" cy="502920"/>
          </a:xfrm>
          <a:prstGeom prst="ellipse">
            <a:avLst/>
          </a:prstGeom>
          <a:solidFill>
            <a:srgbClr val="FF2B47"/>
          </a:solidFill>
          <a:ln w="12700">
            <a:solidFill>
              <a:srgbClr val="FF2B4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3040" y="23317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Une branche chacun, à son prénom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63040" y="270662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zoe, leo, marie-eve : en minuscules, sans accents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291840"/>
            <a:ext cx="502920" cy="502920"/>
          </a:xfrm>
          <a:prstGeom prst="ellipse">
            <a:avLst/>
          </a:prstGeom>
          <a:solidFill>
            <a:srgbClr val="FF2B47"/>
          </a:solidFill>
          <a:ln w="12700">
            <a:solidFill>
              <a:srgbClr val="FF2B4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32461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Travailler et commit sur sa branche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63040" y="362102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petits commits fréquents, puis push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206240"/>
            <a:ext cx="502920" cy="502920"/>
          </a:xfrm>
          <a:prstGeom prst="ellipse">
            <a:avLst/>
          </a:prstGeom>
          <a:solidFill>
            <a:srgbClr val="FF2B47"/>
          </a:solidFill>
          <a:ln w="12700">
            <a:solidFill>
              <a:srgbClr val="FF2B47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3152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63040" y="41605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Fusionner dans main par une pull request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463040" y="453542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Une PR par partie terminée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1520" y="5120640"/>
            <a:ext cx="502920" cy="502920"/>
          </a:xfrm>
          <a:prstGeom prst="ellipse">
            <a:avLst/>
          </a:prstGeom>
          <a:solidFill>
            <a:srgbClr val="FF2B47"/>
          </a:solidFill>
          <a:ln w="12700">
            <a:solidFill>
              <a:srgbClr val="FF2B47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31520" y="5120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63040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Mettre sa branche à jour avec main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463040" y="544982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Après chaque PR fusionnée, et au début de chaque séance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4114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pull request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« JE PROPOSE DE FUSIONNER MA BRANCHE DANS MAIN »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0698480" cy="1188720"/>
          </a:xfrm>
          <a:prstGeom prst="roundRect">
            <a:avLst>
              <a:gd name="adj" fmla="val 6154"/>
            </a:avLst>
          </a:prstGeom>
          <a:solidFill>
            <a:srgbClr val="16171A"/>
          </a:solidFill>
          <a:ln w="25400">
            <a:solidFill>
              <a:srgbClr val="FF2B4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97280" y="22402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A8A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base: 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pPr indent="0" marL="0">
              <a:buNone/>
            </a:pPr>
            <a:r>
              <a:rPr lang="en-US" sz="3200" dirty="0">
                <a:solidFill>
                  <a:srgbClr val="FF2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←   </a:t>
            </a:r>
            <a:pPr indent="0" marL="0">
              <a:buNone/>
            </a:pPr>
            <a:r>
              <a:rPr lang="en-US" sz="3200" dirty="0">
                <a:solidFill>
                  <a:srgbClr val="A8A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compare: </a:t>
            </a:r>
            <a:pPr indent="0" marL="0">
              <a:buNone/>
            </a:pPr>
            <a:r>
              <a:rPr lang="en-US" sz="3200" b="1" dirty="0">
                <a:solidFill>
                  <a:srgbClr val="FF2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" cy="502920"/>
          </a:xfrm>
          <a:prstGeom prst="ellipse">
            <a:avLst/>
          </a:prstGeom>
          <a:solidFill>
            <a:srgbClr val="FF2B47"/>
          </a:solidFill>
          <a:ln w="12700">
            <a:solidFill>
              <a:srgbClr val="FF2B4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36118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Push de votre branche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63040" y="398678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Puis, sur github.com : Compare &amp; pull request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4526280"/>
            <a:ext cx="502920" cy="502920"/>
          </a:xfrm>
          <a:prstGeom prst="ellipse">
            <a:avLst/>
          </a:prstGeom>
          <a:solidFill>
            <a:srgbClr val="FF2B47"/>
          </a:solidFill>
          <a:ln w="12700">
            <a:solidFill>
              <a:srgbClr val="FF2B4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63040" y="44805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titre clair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63040" y="485546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Ex. « Ch. 3 : parallaxe de la forêt »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5394960"/>
            <a:ext cx="502920" cy="502920"/>
          </a:xfrm>
          <a:prstGeom prst="ellipse">
            <a:avLst/>
          </a:prstGeom>
          <a:solidFill>
            <a:srgbClr val="FF2B47"/>
          </a:solidFill>
          <a:ln w="12700">
            <a:solidFill>
              <a:srgbClr val="FF2B4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31520" y="5394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63040" y="53492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L'autre regarde, puis fusionne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463040" y="572414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Files changed, puis Merge pull request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4114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Mettre sa branche à jour avec main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3352800" cy="2743200"/>
          </a:xfrm>
          <a:prstGeom prst="roundRect">
            <a:avLst>
              <a:gd name="adj" fmla="val 2667"/>
            </a:avLst>
          </a:prstGeom>
          <a:solidFill>
            <a:srgbClr val="16171A"/>
          </a:solidFill>
          <a:ln w="12700">
            <a:solidFill>
              <a:srgbClr val="2E3036"/>
            </a:solidFill>
            <a:prstDash val="solid"/>
          </a:ln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0116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2743200"/>
            <a:ext cx="280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VS Code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005840" y="3474720"/>
            <a:ext cx="280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Git: Fetch, puis Git: Merge… → origin/main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404360" y="1737360"/>
            <a:ext cx="3352800" cy="2743200"/>
          </a:xfrm>
          <a:prstGeom prst="roundRect">
            <a:avLst>
              <a:gd name="adj" fmla="val 2667"/>
            </a:avLst>
          </a:prstGeom>
          <a:solidFill>
            <a:srgbClr val="16171A"/>
          </a:solidFill>
          <a:ln w="12700">
            <a:solidFill>
              <a:srgbClr val="2E3036"/>
            </a:solidFill>
            <a:prstDash val="solid"/>
          </a:ln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8680" y="2011680"/>
            <a:ext cx="548640" cy="5486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78680" y="2743200"/>
            <a:ext cx="280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Desktop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4678680" y="3474720"/>
            <a:ext cx="280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Branch → Update from main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077200" y="1737360"/>
            <a:ext cx="3352800" cy="2743200"/>
          </a:xfrm>
          <a:prstGeom prst="roundRect">
            <a:avLst>
              <a:gd name="adj" fmla="val 2667"/>
            </a:avLst>
          </a:prstGeom>
          <a:solidFill>
            <a:srgbClr val="16171A"/>
          </a:solidFill>
          <a:ln w="12700">
            <a:solidFill>
              <a:srgbClr val="2E3036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1520" y="2011680"/>
            <a:ext cx="548640" cy="5486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351520" y="2743200"/>
            <a:ext cx="280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Terminal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8351520" y="3474720"/>
            <a:ext cx="280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 fetch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 merge origin/main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731520" y="48463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Toujours en étant sur votre branche. Puis push.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7373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LES CONFLITS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10698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conflit n'est pas une erreur. </a:t>
            </a:r>
            <a:pPr indent="0" marL="0">
              <a:buNone/>
            </a:pPr>
            <a:r>
              <a:rPr lang="en-US" sz="4800" b="1" dirty="0">
                <a:solidFill>
                  <a:srgbClr val="FF2B4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C'est Git qui vous demande de choisir.</a:t>
            </a:r>
            <a:endParaRPr lang="en-US" sz="4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4114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quoi ça ressemble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6583680" cy="2926080"/>
          </a:xfrm>
          <a:prstGeom prst="roundRect">
            <a:avLst>
              <a:gd name="adj" fmla="val 2500"/>
            </a:avLst>
          </a:prstGeom>
          <a:solidFill>
            <a:srgbClr val="16171A"/>
          </a:solidFill>
          <a:ln w="12700">
            <a:solidFill>
              <a:srgbClr val="2E303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51560" y="1691640"/>
            <a:ext cx="5943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FF2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&lt;&lt;&lt;&lt;&lt;&lt;&lt; HEAD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&lt;h1&gt;La forêt enchantée&lt;/h1&gt;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FF2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=======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&lt;h1&gt;Dans la forêt&lt;/h1&gt;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FF2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&gt;&gt;&gt;&gt;&gt;&gt;&gt; origin/main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680960" y="201168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 haut : 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votre version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 bas : 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celle qui arrive de main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4114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 régler dans VS Code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2434590" cy="2377440"/>
          </a:xfrm>
          <a:prstGeom prst="roundRect">
            <a:avLst>
              <a:gd name="adj" fmla="val 3077"/>
            </a:avLst>
          </a:prstGeom>
          <a:solidFill>
            <a:srgbClr val="16171A"/>
          </a:solidFill>
          <a:ln w="12700">
            <a:solidFill>
              <a:srgbClr val="2E3036"/>
            </a:solidFill>
            <a:prstDash val="solid"/>
          </a:ln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2880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2560320"/>
            <a:ext cx="188595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Accept Current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005840" y="3291840"/>
            <a:ext cx="188595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Garder votre version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486150" y="1554480"/>
            <a:ext cx="2434590" cy="2377440"/>
          </a:xfrm>
          <a:prstGeom prst="roundRect">
            <a:avLst>
              <a:gd name="adj" fmla="val 3077"/>
            </a:avLst>
          </a:prstGeom>
          <a:solidFill>
            <a:srgbClr val="16171A"/>
          </a:solidFill>
          <a:ln w="12700">
            <a:solidFill>
              <a:srgbClr val="2E3036"/>
            </a:solidFill>
            <a:prstDash val="solid"/>
          </a:ln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0470" y="1828800"/>
            <a:ext cx="548640" cy="5486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760470" y="2560320"/>
            <a:ext cx="188595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Accept Incoming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3760470" y="3291840"/>
            <a:ext cx="188595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Garder la version qui arrive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240780" y="1554480"/>
            <a:ext cx="2434590" cy="2377440"/>
          </a:xfrm>
          <a:prstGeom prst="roundRect">
            <a:avLst>
              <a:gd name="adj" fmla="val 3077"/>
            </a:avLst>
          </a:prstGeom>
          <a:solidFill>
            <a:srgbClr val="16171A"/>
          </a:solidFill>
          <a:ln w="12700">
            <a:solidFill>
              <a:srgbClr val="2E3036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0" y="1828800"/>
            <a:ext cx="548640" cy="5486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5100" y="2560320"/>
            <a:ext cx="188595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Accept Both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6515100" y="3291840"/>
            <a:ext cx="188595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Garder les deux, l'une sous l'autre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995410" y="1554480"/>
            <a:ext cx="2434590" cy="2377440"/>
          </a:xfrm>
          <a:prstGeom prst="roundRect">
            <a:avLst>
              <a:gd name="adj" fmla="val 3077"/>
            </a:avLst>
          </a:prstGeom>
          <a:solidFill>
            <a:srgbClr val="16171A"/>
          </a:solidFill>
          <a:ln w="12700">
            <a:solidFill>
              <a:srgbClr val="2E3036"/>
            </a:solidFill>
            <a:prstDash val="solid"/>
          </a:ln>
        </p:spPr>
        <p:txBody>
          <a:bodyPr/>
          <a:p/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9730" y="1828800"/>
            <a:ext cx="548640" cy="54864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69730" y="2560320"/>
            <a:ext cx="188595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la main</a:t>
            </a:r>
            <a:endParaRPr lang="en-US" sz="1800" dirty="0"/>
          </a:p>
        </p:txBody>
      </p:sp>
      <p:sp>
        <p:nvSpPr>
          <p:cNvPr id="19" name="Text 13"/>
          <p:cNvSpPr/>
          <p:nvPr/>
        </p:nvSpPr>
        <p:spPr>
          <a:xfrm>
            <a:off x="9269730" y="3291840"/>
            <a:ext cx="188595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Écrire la bonne version vous-même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731520" y="4297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2B4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Plus aucun marqueur → enregistrer → + → commit → tester → push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4114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 éviter les conflits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3352800" cy="3017520"/>
          </a:xfrm>
          <a:prstGeom prst="roundRect">
            <a:avLst>
              <a:gd name="adj" fmla="val 2424"/>
            </a:avLst>
          </a:prstGeom>
          <a:solidFill>
            <a:srgbClr val="16171A"/>
          </a:solidFill>
          <a:ln w="12700">
            <a:solidFill>
              <a:srgbClr val="2E3036"/>
            </a:solidFill>
            <a:prstDash val="solid"/>
          </a:ln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0116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2743200"/>
            <a:ext cx="280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fichier par chapitre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005840" y="3474720"/>
            <a:ext cx="280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css/chapitres/ch-03.css, js/chapitres/ch-03.js pour la personne du chapitre 3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404360" y="1737360"/>
            <a:ext cx="3352800" cy="3017520"/>
          </a:xfrm>
          <a:prstGeom prst="roundRect">
            <a:avLst>
              <a:gd name="adj" fmla="val 2424"/>
            </a:avLst>
          </a:prstGeom>
          <a:solidFill>
            <a:srgbClr val="16171A"/>
          </a:solidFill>
          <a:ln w="12700">
            <a:solidFill>
              <a:srgbClr val="2E3036"/>
            </a:solidFill>
            <a:prstDash val="solid"/>
          </a:ln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8680" y="2011680"/>
            <a:ext cx="548640" cy="5486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78680" y="2743200"/>
            <a:ext cx="280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Fichiers communs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4678680" y="3474720"/>
            <a:ext cx="280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index.html, commun.css, main.js, data.json : on se prévient avant d'y toucher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077200" y="1737360"/>
            <a:ext cx="3352800" cy="3017520"/>
          </a:xfrm>
          <a:prstGeom prst="roundRect">
            <a:avLst>
              <a:gd name="adj" fmla="val 2424"/>
            </a:avLst>
          </a:prstGeom>
          <a:solidFill>
            <a:srgbClr val="16171A"/>
          </a:solidFill>
          <a:ln w="12700">
            <a:solidFill>
              <a:srgbClr val="2E3036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1520" y="2011680"/>
            <a:ext cx="548640" cy="5486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351520" y="2743200"/>
            <a:ext cx="280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jour, souvent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8351520" y="3474720"/>
            <a:ext cx="280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petit conflit aujourd'hui vaut mieux qu'un gros dans deux semaines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4114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Nos commits, tous pareils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14173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2B4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Zone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: ce qui a changé, à l'impératif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2377440"/>
            <a:ext cx="10698480" cy="2743200"/>
          </a:xfrm>
          <a:prstGeom prst="roundRect">
            <a:avLst>
              <a:gd name="adj" fmla="val 2667"/>
            </a:avLst>
          </a:prstGeom>
          <a:solidFill>
            <a:srgbClr val="16171A"/>
          </a:solidFill>
          <a:ln w="12700">
            <a:solidFill>
              <a:srgbClr val="2E303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51560" y="2606040"/>
            <a:ext cx="10058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Ch. 3 : ajoute la parallaxe de la forêt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Média : prépare la spritesheet du loup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Données : remplit les chapitres 3 et 4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Commun : ajuste la grille de la page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FF2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Corrige #12 : le menu mobile ne se ferme pas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53949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Jamais update, fix ou wip.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4114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vous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02920" cy="502920"/>
          </a:xfrm>
          <a:prstGeom prst="ellipse">
            <a:avLst/>
          </a:prstGeom>
          <a:solidFill>
            <a:srgbClr val="FF2B47"/>
          </a:solidFill>
          <a:ln w="12700">
            <a:solidFill>
              <a:srgbClr val="FF2B4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60020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Exercice en duo : un conflit, exprès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63040" y="19751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min, dans un dépôt d'exercice Classroom 50. Chacun en règle un.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743200"/>
            <a:ext cx="502920" cy="502920"/>
          </a:xfrm>
          <a:prstGeom prst="ellipse">
            <a:avLst/>
          </a:prstGeom>
          <a:solidFill>
            <a:srgbClr val="FF2B47"/>
          </a:solidFill>
          <a:ln w="12700">
            <a:solidFill>
              <a:srgbClr val="FF2B4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3040" y="26974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Dans votre projet : la structure commune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63040" y="307238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Ensemble, sur main : un fichier par chapitre et le squelette de data.json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840480"/>
            <a:ext cx="502920" cy="502920"/>
          </a:xfrm>
          <a:prstGeom prst="ellipse">
            <a:avLst/>
          </a:prstGeom>
          <a:solidFill>
            <a:srgbClr val="FF2B47"/>
          </a:solidFill>
          <a:ln w="12700">
            <a:solidFill>
              <a:srgbClr val="FF2B4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37947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Une branche chacun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63040" y="416966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Puis plus personne ne code sur main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2026-10-27T02:02:19Z</dcterms:created>
  <dcterms:modified xsi:type="dcterms:W3CDTF">2026-10-27T02:02:19Z</dcterms:modified>
</cp:coreProperties>
</file>