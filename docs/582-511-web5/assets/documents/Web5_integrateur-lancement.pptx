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af282f5f-ea4a-2c97-bca7-68490bf4f514}">
          <p14:sldIdLst>
            <p14:sldId id="256"/>
            <p14:sldId id="257"/>
            <p14:sldId id="258"/>
            <p14:sldId id="259"/>
          </p14:sldIdLst>
        </p14:section>
        <p14:section name="Le produit" id="{1fa5154b-d629-b6a9-291e-d1e2c439f7d2}">
          <p14:sldIdLst>
            <p14:sldId id="260"/>
            <p14:sldId id="261"/>
            <p14:sldId id="262"/>
            <p14:sldId id="263"/>
            <p14:sldId id="264"/>
            <p14:sldId id="265"/>
            <p14:sldId id="266"/>
          </p14:sldIdLst>
        </p14:section>
        <p14:section name="Évaluation" id="{7b45596d-a0a4-6dc0-3a6a-a3a689d25df6}">
          <p14:sldIdLst>
            <p14:sldId id="267"/>
            <p14:sldId id="268"/>
            <p14:sldId id="269"/>
          </p14:sldIdLst>
        </p14:section>
        <p14:section name="Calendrier" id="{7d77f6b9-8dd0-5688-6d0e-b4de3d06ecf0}">
          <p14:sldIdLst>
            <p14:sldId id="270"/>
            <p14:sldId id="271"/>
          </p14:sldIdLst>
        </p14:section>
        <p14:section name="À vous" id="{944e52ab-b6c5-cf70-d691-c93202d1e0cc}">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projet intégrateur. Objectif de la séance : que vous partiez avec une équipe, un thème, et tout ce qu'il faut pour travailler seuls deux semaines. On se revoit le vendredi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quatre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deux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À faire d'ici le 23 : trouver l'API et la tester dans la console. Si une erreur CORS apparaît, elle ne convient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Les bornes complètes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 La grille critériée détaillée sera publiée avant la remise du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mêmes règles qu'au portfolio. Usage non documenté : plagiat. Code que vous ne comprenez pas : ça se voit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Je fais la rétroaction le 23, et vous commencez à coder la semaine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intégrateur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2434590" cy="2743200"/>
          </a:xfrm>
          <a:prstGeom prst="roundRect">
            <a:avLst>
              <a:gd name="adj" fmla="val 4507"/>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cause</a:t>
            </a:r>
            <a:endParaRPr lang="en-US" sz="1900" dirty="0"/>
          </a:p>
        </p:txBody>
      </p:sp>
      <p:sp>
        <p:nvSpPr>
          <p:cNvPr id="6" name="Text 3"/>
          <p:cNvSpPr txBox="1"/>
          <p:nvPr/>
        </p:nvSpPr>
        <p:spPr>
          <a:xfrm>
            <a:off x="100584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Environnement, santé, société</a:t>
            </a:r>
            <a:endParaRPr lang="en-US" sz="1500" dirty="0"/>
          </a:p>
        </p:txBody>
      </p:sp>
      <p:sp>
        <p:nvSpPr>
          <p:cNvPr id="7" name="carte-1"/>
          <p:cNvSpPr/>
          <p:nvPr/>
        </p:nvSpPr>
        <p:spPr>
          <a:xfrm>
            <a:off x="3486150" y="1737360"/>
            <a:ext cx="2434590" cy="2743200"/>
          </a:xfrm>
          <a:prstGeom prst="roundRect">
            <a:avLst>
              <a:gd name="adj" fmla="val 4507"/>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760470" y="2011680"/>
            <a:ext cx="594360" cy="594360"/>
          </a:xfrm>
          <a:prstGeom prst="rect">
            <a:avLst/>
          </a:prstGeom>
        </p:spPr>
      </p:pic>
      <p:sp>
        <p:nvSpPr>
          <p:cNvPr id="9" name="Text 5"/>
          <p:cNvSpPr txBox="1"/>
          <p:nvPr/>
        </p:nvSpPr>
        <p:spPr>
          <a:xfrm>
            <a:off x="376047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mini-documentaire</a:t>
            </a:r>
            <a:endParaRPr lang="en-US" sz="1900" dirty="0"/>
          </a:p>
        </p:txBody>
      </p:sp>
      <p:sp>
        <p:nvSpPr>
          <p:cNvPr id="10" name="Text 6"/>
          <p:cNvSpPr txBox="1"/>
          <p:nvPr/>
        </p:nvSpPr>
        <p:spPr>
          <a:xfrm>
            <a:off x="376047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lieu, un événement, une personne</a:t>
            </a:r>
            <a:endParaRPr lang="en-US" sz="1500" dirty="0"/>
          </a:p>
        </p:txBody>
      </p:sp>
      <p:sp>
        <p:nvSpPr>
          <p:cNvPr id="11" name="carte-2"/>
          <p:cNvSpPr/>
          <p:nvPr/>
        </p:nvSpPr>
        <p:spPr>
          <a:xfrm>
            <a:off x="6240780" y="1737360"/>
            <a:ext cx="2434590" cy="2743200"/>
          </a:xfrm>
          <a:prstGeom prst="roundRect">
            <a:avLst>
              <a:gd name="adj" fmla="val 4507"/>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6515100" y="2011680"/>
            <a:ext cx="594360" cy="594360"/>
          </a:xfrm>
          <a:prstGeom prst="rect">
            <a:avLst/>
          </a:prstGeom>
        </p:spPr>
      </p:pic>
      <p:sp>
        <p:nvSpPr>
          <p:cNvPr id="13" name="Text 8"/>
          <p:cNvSpPr txBox="1"/>
          <p:nvPr/>
        </p:nvSpPr>
        <p:spPr>
          <a:xfrm>
            <a:off x="651510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vitrine</a:t>
            </a:r>
            <a:endParaRPr lang="en-US" sz="1900" dirty="0"/>
          </a:p>
        </p:txBody>
      </p:sp>
      <p:sp>
        <p:nvSpPr>
          <p:cNvPr id="14" name="Text 9"/>
          <p:cNvSpPr txBox="1"/>
          <p:nvPr/>
        </p:nvSpPr>
        <p:spPr>
          <a:xfrm>
            <a:off x="651510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produit, une œuvre, un artiste</a:t>
            </a:r>
            <a:endParaRPr lang="en-US" sz="1500" dirty="0"/>
          </a:p>
        </p:txBody>
      </p:sp>
      <p:sp>
        <p:nvSpPr>
          <p:cNvPr id="15" name="carte-3"/>
          <p:cNvSpPr/>
          <p:nvPr/>
        </p:nvSpPr>
        <p:spPr>
          <a:xfrm>
            <a:off x="8995410" y="1737360"/>
            <a:ext cx="2434590" cy="2743200"/>
          </a:xfrm>
          <a:prstGeom prst="roundRect">
            <a:avLst>
              <a:gd name="adj" fmla="val 4507"/>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9269730" y="2011680"/>
            <a:ext cx="594360" cy="594360"/>
          </a:xfrm>
          <a:prstGeom prst="rect">
            <a:avLst/>
          </a:prstGeom>
        </p:spPr>
      </p:pic>
      <p:sp>
        <p:nvSpPr>
          <p:cNvPr id="17" name="Text 11"/>
          <p:cNvSpPr txBox="1"/>
          <p:nvPr/>
        </p:nvSpPr>
        <p:spPr>
          <a:xfrm>
            <a:off x="926973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explicatif</a:t>
            </a:r>
            <a:endParaRPr lang="en-US" sz="1900" dirty="0"/>
          </a:p>
        </p:txBody>
      </p:sp>
      <p:sp>
        <p:nvSpPr>
          <p:cNvPr id="18" name="Text 12"/>
          <p:cNvSpPr txBox="1"/>
          <p:nvPr/>
        </p:nvSpPr>
        <p:spPr>
          <a:xfrm>
            <a:off x="926973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Comment fonctionne quelque chose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4 à 6</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2</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bornes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4 chapitres soignés que 6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avec vos usages de l'IA</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2027682" y="3182112"/>
            <a:ext cx="219456" cy="219456"/>
          </a:xfrm>
          <a:prstGeom prst="ellipse">
            <a:avLst/>
          </a:prstGeom>
          <a:solidFill>
            <a:srgbClr val="FF2B47"/>
          </a:solidFill>
          <a:ln w="12700">
            <a:solidFill>
              <a:srgbClr val="FF2B47"/>
            </a:solidFill>
            <a:prstDash val="solid"/>
          </a:ln>
        </p:spPr>
      </p:sp>
      <p:sp>
        <p:nvSpPr>
          <p:cNvPr id="8" name="Text 6"/>
          <p:cNvSpPr txBox="1"/>
          <p:nvPr/>
        </p:nvSpPr>
        <p:spPr>
          <a:xfrm>
            <a:off x="145161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9" name="Text 7"/>
          <p:cNvSpPr txBox="1"/>
          <p:nvPr/>
        </p:nvSpPr>
        <p:spPr>
          <a:xfrm>
            <a:off x="136017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0" name="Shape 8"/>
          <p:cNvSpPr/>
          <p:nvPr/>
        </p:nvSpPr>
        <p:spPr>
          <a:xfrm>
            <a:off x="3342132" y="3182112"/>
            <a:ext cx="219456" cy="219456"/>
          </a:xfrm>
          <a:prstGeom prst="ellipse">
            <a:avLst/>
          </a:prstGeom>
          <a:solidFill>
            <a:srgbClr val="FFFFFF"/>
          </a:solidFill>
          <a:ln w="12700">
            <a:solidFill>
              <a:srgbClr val="FFFFFF"/>
            </a:solidFill>
            <a:prstDash val="solid"/>
          </a:ln>
        </p:spPr>
      </p:sp>
      <p:sp>
        <p:nvSpPr>
          <p:cNvPr id="11" name="Text 9"/>
          <p:cNvSpPr txBox="1"/>
          <p:nvPr/>
        </p:nvSpPr>
        <p:spPr>
          <a:xfrm>
            <a:off x="27660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2" name="Text 10"/>
          <p:cNvSpPr txBox="1"/>
          <p:nvPr/>
        </p:nvSpPr>
        <p:spPr>
          <a:xfrm>
            <a:off x="26746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3" name="Shape 11"/>
          <p:cNvSpPr/>
          <p:nvPr/>
        </p:nvSpPr>
        <p:spPr>
          <a:xfrm>
            <a:off x="465658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408051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5" name="Text 13"/>
          <p:cNvSpPr txBox="1"/>
          <p:nvPr/>
        </p:nvSpPr>
        <p:spPr>
          <a:xfrm>
            <a:off x="398907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6" name="Shape 14"/>
          <p:cNvSpPr/>
          <p:nvPr/>
        </p:nvSpPr>
        <p:spPr>
          <a:xfrm>
            <a:off x="5971032" y="3182112"/>
            <a:ext cx="219456" cy="219456"/>
          </a:xfrm>
          <a:prstGeom prst="ellipse">
            <a:avLst/>
          </a:prstGeom>
          <a:solidFill>
            <a:srgbClr val="FF2B47"/>
          </a:solidFill>
          <a:ln w="12700">
            <a:solidFill>
              <a:srgbClr val="FF2B47"/>
            </a:solidFill>
            <a:prstDash val="solid"/>
          </a:ln>
        </p:spPr>
      </p:sp>
      <p:sp>
        <p:nvSpPr>
          <p:cNvPr id="17" name="Text 15"/>
          <p:cNvSpPr txBox="1"/>
          <p:nvPr/>
        </p:nvSpPr>
        <p:spPr>
          <a:xfrm>
            <a:off x="5394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18" name="Text 16"/>
          <p:cNvSpPr txBox="1"/>
          <p:nvPr/>
        </p:nvSpPr>
        <p:spPr>
          <a:xfrm>
            <a:off x="5303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19" name="Shape 17"/>
          <p:cNvSpPr/>
          <p:nvPr/>
        </p:nvSpPr>
        <p:spPr>
          <a:xfrm>
            <a:off x="7285482" y="3182112"/>
            <a:ext cx="219456" cy="219456"/>
          </a:xfrm>
          <a:prstGeom prst="ellipse">
            <a:avLst/>
          </a:prstGeom>
          <a:solidFill>
            <a:srgbClr val="FFFFFF"/>
          </a:solidFill>
          <a:ln w="12700">
            <a:solidFill>
              <a:srgbClr val="FFFFFF"/>
            </a:solidFill>
            <a:prstDash val="solid"/>
          </a:ln>
        </p:spPr>
      </p:sp>
      <p:sp>
        <p:nvSpPr>
          <p:cNvPr id="20" name="Text 18"/>
          <p:cNvSpPr txBox="1"/>
          <p:nvPr/>
        </p:nvSpPr>
        <p:spPr>
          <a:xfrm>
            <a:off x="670941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1" name="Text 19"/>
          <p:cNvSpPr txBox="1"/>
          <p:nvPr/>
        </p:nvSpPr>
        <p:spPr>
          <a:xfrm>
            <a:off x="661797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2" name="Shape 20"/>
          <p:cNvSpPr/>
          <p:nvPr/>
        </p:nvSpPr>
        <p:spPr>
          <a:xfrm>
            <a:off x="85999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80238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4" name="Text 22"/>
          <p:cNvSpPr txBox="1"/>
          <p:nvPr/>
        </p:nvSpPr>
        <p:spPr>
          <a:xfrm>
            <a:off x="79324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5" name="Shape 23"/>
          <p:cNvSpPr/>
          <p:nvPr/>
        </p:nvSpPr>
        <p:spPr>
          <a:xfrm>
            <a:off x="9914382" y="3182112"/>
            <a:ext cx="219456" cy="219456"/>
          </a:xfrm>
          <a:prstGeom prst="ellipse">
            <a:avLst/>
          </a:prstGeom>
          <a:solidFill>
            <a:srgbClr val="FF2B47"/>
          </a:solidFill>
          <a:ln w="12700">
            <a:solidFill>
              <a:srgbClr val="FF2B47"/>
            </a:solidFill>
            <a:prstDash val="solid"/>
          </a:ln>
        </p:spPr>
      </p:sp>
      <p:sp>
        <p:nvSpPr>
          <p:cNvPr id="26" name="Text 24"/>
          <p:cNvSpPr txBox="1"/>
          <p:nvPr/>
        </p:nvSpPr>
        <p:spPr>
          <a:xfrm>
            <a:off x="933831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27" name="Text 25"/>
          <p:cNvSpPr txBox="1"/>
          <p:nvPr/>
        </p:nvSpPr>
        <p:spPr>
          <a:xfrm>
            <a:off x="924687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28" name="Shape 26"/>
          <p:cNvSpPr/>
          <p:nvPr/>
        </p:nvSpPr>
        <p:spPr>
          <a:xfrm>
            <a:off x="112288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10652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0" name="Text 28"/>
          <p:cNvSpPr txBox="1"/>
          <p:nvPr/>
        </p:nvSpPr>
        <p:spPr>
          <a:xfrm>
            <a:off x="105613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L'IA dans le projet</a:t>
            </a:r>
            <a:endParaRPr lang="en-US" sz="3200" dirty="0"/>
          </a:p>
        </p:txBody>
      </p:sp>
      <p:sp>
        <p:nvSpPr>
          <p:cNvPr id="3" name="Text 1"/>
          <p:cNvSpPr txBox="1"/>
          <p:nvPr/>
        </p:nvSpPr>
        <p:spPr>
          <a:xfrm>
            <a:off x="731520" y="2194560"/>
            <a:ext cx="3291840" cy="1188720"/>
          </a:xfrm>
          <a:prstGeom prst="rect">
            <a:avLst/>
          </a:prstGeom>
          <a:noFill/>
          <a:ln/>
        </p:spPr>
        <p:txBody>
          <a:bodyPr wrap="square" lIns="0" tIns="0" rIns="0" bIns="0" rtlCol="0" anchor="ctr"/>
          <a:lstStyle/>
          <a:p>
            <a:pPr indent="0" marL="0">
              <a:buNone/>
            </a:pPr>
            <a:r>
              <a:rPr lang="en-US" sz="3600" b="1" dirty="0">
                <a:solidFill>
                  <a:schemeClr val="accent1"/>
                </a:solidFill>
              </a:rPr>
              <a:t>Permise</a:t>
            </a:r>
            <a:endParaRPr lang="en-US" sz="3600" dirty="0"/>
          </a:p>
        </p:txBody>
      </p:sp>
      <p:sp>
        <p:nvSpPr>
          <p:cNvPr id="4" name="Text 2"/>
          <p:cNvSpPr txBox="1"/>
          <p:nvPr/>
        </p:nvSpPr>
        <p:spPr>
          <a:xfrm>
            <a:off x="731520" y="3474720"/>
            <a:ext cx="3291840" cy="822960"/>
          </a:xfrm>
          <a:prstGeom prst="rect">
            <a:avLst/>
          </a:prstGeom>
          <a:noFill/>
          <a:ln/>
        </p:spPr>
        <p:txBody>
          <a:bodyPr wrap="square" lIns="0" tIns="0" rIns="0" bIns="0" rtlCol="0" anchor="t"/>
          <a:lstStyle/>
          <a:p>
            <a:pPr indent="0" marL="0">
              <a:buNone/>
            </a:pPr>
            <a:endParaRPr lang="en-US" sz="1800" dirty="0"/>
          </a:p>
        </p:txBody>
      </p:sp>
      <p:sp>
        <p:nvSpPr>
          <p:cNvPr id="5" name="Text 3"/>
          <p:cNvSpPr txBox="1"/>
          <p:nvPr/>
        </p:nvSpPr>
        <p:spPr>
          <a:xfrm>
            <a:off x="4297680" y="2194560"/>
            <a:ext cx="3291840" cy="1188720"/>
          </a:xfrm>
          <a:prstGeom prst="rect">
            <a:avLst/>
          </a:prstGeom>
          <a:noFill/>
          <a:ln/>
        </p:spPr>
        <p:txBody>
          <a:bodyPr wrap="square" lIns="0" tIns="0" rIns="0" bIns="0" rtlCol="0" anchor="ctr"/>
          <a:lstStyle/>
          <a:p>
            <a:pPr indent="0" marL="0">
              <a:buNone/>
            </a:pPr>
            <a:r>
              <a:rPr lang="en-US" sz="3600" b="1" dirty="0">
                <a:solidFill>
                  <a:schemeClr val="tx1"/>
                </a:solidFill>
              </a:rPr>
              <a:t>Documentée</a:t>
            </a:r>
            <a:endParaRPr lang="en-US" sz="3600" dirty="0"/>
          </a:p>
        </p:txBody>
      </p:sp>
      <p:sp>
        <p:nvSpPr>
          <p:cNvPr id="6" name="Text 4"/>
          <p:cNvSpPr txBox="1"/>
          <p:nvPr/>
        </p:nvSpPr>
        <p:spPr>
          <a:xfrm>
            <a:off x="4297680" y="3474720"/>
            <a:ext cx="3291840" cy="822960"/>
          </a:xfrm>
          <a:prstGeom prst="rect">
            <a:avLst/>
          </a:prstGeom>
          <a:noFill/>
          <a:ln/>
        </p:spPr>
        <p:txBody>
          <a:bodyPr wrap="square" lIns="0" tIns="0" rIns="0" bIns="0" rtlCol="0" anchor="t"/>
          <a:lstStyle/>
          <a:p>
            <a:pPr indent="0" marL="0">
              <a:buNone/>
            </a:pPr>
            <a:r>
              <a:rPr lang="en-US" sz="1800" dirty="0">
                <a:solidFill>
                  <a:schemeClr val="tx2"/>
                </a:solidFill>
              </a:rPr>
              <a:t>dans votre journal</a:t>
            </a:r>
            <a:endParaRPr lang="en-US" sz="1800" dirty="0"/>
          </a:p>
        </p:txBody>
      </p:sp>
      <p:sp>
        <p:nvSpPr>
          <p:cNvPr id="7" name="Text 5"/>
          <p:cNvSpPr txBox="1"/>
          <p:nvPr/>
        </p:nvSpPr>
        <p:spPr>
          <a:xfrm>
            <a:off x="7863840" y="2194560"/>
            <a:ext cx="3291840" cy="1188720"/>
          </a:xfrm>
          <a:prstGeom prst="rect">
            <a:avLst/>
          </a:prstGeom>
          <a:noFill/>
          <a:ln/>
        </p:spPr>
        <p:txBody>
          <a:bodyPr wrap="square" lIns="0" tIns="0" rIns="0" bIns="0" rtlCol="0" anchor="ctr"/>
          <a:lstStyle/>
          <a:p>
            <a:pPr indent="0" marL="0">
              <a:buNone/>
            </a:pPr>
            <a:r>
              <a:rPr lang="en-US" sz="3600" b="1" dirty="0">
                <a:solidFill>
                  <a:schemeClr val="tx1"/>
                </a:solidFill>
              </a:rPr>
              <a:t>Comprise</a:t>
            </a:r>
            <a:endParaRPr lang="en-US" sz="3600" dirty="0"/>
          </a:p>
        </p:txBody>
      </p:sp>
      <p:sp>
        <p:nvSpPr>
          <p:cNvPr id="8" name="Text 6"/>
          <p:cNvSpPr txBox="1"/>
          <p:nvPr/>
        </p:nvSpPr>
        <p:spPr>
          <a:xfrm>
            <a:off x="7863840" y="3474720"/>
            <a:ext cx="3291840" cy="822960"/>
          </a:xfrm>
          <a:prstGeom prst="rect">
            <a:avLst/>
          </a:prstGeom>
          <a:noFill/>
          <a:ln/>
        </p:spPr>
        <p:txBody>
          <a:bodyPr wrap="square" lIns="0" tIns="0" rIns="0" bIns="0" rtlCol="0" anchor="t"/>
          <a:lstStyle/>
          <a:p>
            <a:pPr indent="0" marL="0">
              <a:buNone/>
            </a:pPr>
            <a:r>
              <a:rPr lang="en-US" sz="1800" dirty="0">
                <a:solidFill>
                  <a:schemeClr val="tx2"/>
                </a:solidFill>
              </a:rPr>
              <a:t>à la défense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cadre par chapitre, annoté</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L'API de la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Trouvée et testée dans la console</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AU DÉBUT DU COURS</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intégrateur : le récit défilant</dc:title>
  <dc:subject>PptxGenJS Presentation</dc:subject>
  <dc:creator>Marie-Michelle Ouellet</dc:creator>
  <cp:lastModifiedBy>Marie-Michelle Ouellet</cp:lastModifiedBy>
  <cp:revision>1</cp:revision>
  <dcterms:created xsi:type="dcterms:W3CDTF">2026-10-07T03:11:39Z</dcterms:created>
  <dcterms:modified xsi:type="dcterms:W3CDTF">2026-10-07T03:11:39Z</dcterms:modified>
</cp:coreProperties>
</file>